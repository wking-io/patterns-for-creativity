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ae5c31c2dd4733" /><Relationship Type="http://schemas.openxmlformats.org/officeDocument/2006/relationships/extended-properties" Target="/docProps/app.xml" Id="Rc469fd47711b4c82" /><Relationship Type="http://schemas.openxmlformats.org/officeDocument/2006/relationships/officeDocument" Target="/ppt/presentation.xml" Id="Rabfbe78c0ce74a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ab4a8a43f244b9"/>
  </p:sldMasterIdLst>
  <p:notesMasterIdLst>
    <p:notesMasterId xmlns:r="http://schemas.openxmlformats.org/officeDocument/2006/relationships" r:id="R242d99aa91d24a28"/>
  </p:notesMasterIdLst>
  <p:sldIdLst>
    <p:sldId xmlns:r="http://schemas.openxmlformats.org/officeDocument/2006/relationships" id="256" r:id="Rc3019ff01aee4194"/>
    <p:sldId xmlns:r="http://schemas.openxmlformats.org/officeDocument/2006/relationships" id="257" r:id="Rf5e6e9b5400e44f3"/>
    <p:sldId xmlns:r="http://schemas.openxmlformats.org/officeDocument/2006/relationships" id="258" r:id="R2496d5bbeb624d82"/>
    <p:sldId xmlns:r="http://schemas.openxmlformats.org/officeDocument/2006/relationships" id="259" r:id="Reb5ebecac7504500"/>
    <p:sldId xmlns:r="http://schemas.openxmlformats.org/officeDocument/2006/relationships" id="260" r:id="R3a194cf54f524e3a"/>
    <p:sldId xmlns:r="http://schemas.openxmlformats.org/officeDocument/2006/relationships" id="261" r:id="R4d273d0bb93645e0"/>
    <p:sldId xmlns:r="http://schemas.openxmlformats.org/officeDocument/2006/relationships" id="262" r:id="Ra786fc01f50e498d"/>
    <p:sldId xmlns:r="http://schemas.openxmlformats.org/officeDocument/2006/relationships" id="263" r:id="R832a5657e6ef42b2"/>
    <p:sldId xmlns:r="http://schemas.openxmlformats.org/officeDocument/2006/relationships" id="264" r:id="Rd12e899a674f479a"/>
    <p:sldId xmlns:r="http://schemas.openxmlformats.org/officeDocument/2006/relationships" id="265" r:id="R7975e8672605451a"/>
    <p:sldId xmlns:r="http://schemas.openxmlformats.org/officeDocument/2006/relationships" id="266" r:id="Rf75d9e1b7faa48ad"/>
    <p:sldId xmlns:r="http://schemas.openxmlformats.org/officeDocument/2006/relationships" id="267" r:id="Rf8a9694662bf4e32"/>
    <p:sldId xmlns:r="http://schemas.openxmlformats.org/officeDocument/2006/relationships" id="268" r:id="Rda9590506017402e"/>
    <p:sldId xmlns:r="http://schemas.openxmlformats.org/officeDocument/2006/relationships" id="269" r:id="R009f168d3df149c8"/>
    <p:sldId xmlns:r="http://schemas.openxmlformats.org/officeDocument/2006/relationships" id="270" r:id="R77aacd2361244854"/>
    <p:sldId xmlns:r="http://schemas.openxmlformats.org/officeDocument/2006/relationships" id="271" r:id="Raae64b3120584e00"/>
    <p:sldId xmlns:r="http://schemas.openxmlformats.org/officeDocument/2006/relationships" id="272" r:id="R8cb84b47cad44c4d"/>
    <p:sldId xmlns:r="http://schemas.openxmlformats.org/officeDocument/2006/relationships" id="273" r:id="Rbbe718c2022843fb"/>
    <p:sldId xmlns:r="http://schemas.openxmlformats.org/officeDocument/2006/relationships" id="274" r:id="R88476b344c8940bc"/>
    <p:sldId xmlns:r="http://schemas.openxmlformats.org/officeDocument/2006/relationships" id="275" r:id="Rfc5712697adb40da"/>
    <p:sldId xmlns:r="http://schemas.openxmlformats.org/officeDocument/2006/relationships" id="276" r:id="R43acb0c2efbc4518"/>
    <p:sldId xmlns:r="http://schemas.openxmlformats.org/officeDocument/2006/relationships" id="277" r:id="R472ea67976e941db"/>
    <p:sldId xmlns:r="http://schemas.openxmlformats.org/officeDocument/2006/relationships" id="278" r:id="R9a487e33b4784384"/>
    <p:sldId xmlns:r="http://schemas.openxmlformats.org/officeDocument/2006/relationships" id="279" r:id="Rcd503a7ae51943c4"/>
    <p:sldId xmlns:r="http://schemas.openxmlformats.org/officeDocument/2006/relationships" id="280" r:id="R50154b6660f143a0"/>
    <p:sldId xmlns:r="http://schemas.openxmlformats.org/officeDocument/2006/relationships" id="281" r:id="R4982053b4c824e8b"/>
    <p:sldId xmlns:r="http://schemas.openxmlformats.org/officeDocument/2006/relationships" id="282" r:id="R42e4ea33e15041e0"/>
    <p:sldId xmlns:r="http://schemas.openxmlformats.org/officeDocument/2006/relationships" id="283" r:id="R71ef5679a2ba4d6f"/>
    <p:sldId xmlns:r="http://schemas.openxmlformats.org/officeDocument/2006/relationships" id="284" r:id="Rfe4353cc4d1747cb"/>
    <p:sldId xmlns:r="http://schemas.openxmlformats.org/officeDocument/2006/relationships" id="285" r:id="Raea891e2214a4279"/>
    <p:sldId xmlns:r="http://schemas.openxmlformats.org/officeDocument/2006/relationships" id="286" r:id="R89466f7bde7d4f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483c85cb914f3f" /><Relationship Type="http://schemas.openxmlformats.org/officeDocument/2006/relationships/slideMaster" Target="/ppt/slideMasters/slideMaster1.xml" Id="R1bab4a8a43f244b9" /><Relationship Type="http://schemas.openxmlformats.org/officeDocument/2006/relationships/notesMaster" Target="/ppt/notesMasters/notesMaster1.xml" Id="R242d99aa91d24a28" /><Relationship Type="http://schemas.openxmlformats.org/officeDocument/2006/relationships/presProps" Target="/ppt/presProps.xml" Id="R1bbb7f40e21940fd" /><Relationship Type="http://schemas.openxmlformats.org/officeDocument/2006/relationships/viewProps" Target="/ppt/viewProps.xml" Id="R44868556f4444185" /><Relationship Type="http://schemas.openxmlformats.org/officeDocument/2006/relationships/tableStyles" Target="/ppt/tableStyles.xml" Id="Rebb0cf7b053045b3" /><Relationship Type="http://schemas.openxmlformats.org/officeDocument/2006/relationships/slide" Target="/ppt/slides/slide1.xml" Id="Rc3019ff01aee4194" /><Relationship Type="http://schemas.openxmlformats.org/officeDocument/2006/relationships/slide" Target="/ppt/slides/slide2.xml" Id="Rf5e6e9b5400e44f3" /><Relationship Type="http://schemas.openxmlformats.org/officeDocument/2006/relationships/slide" Target="/ppt/slides/slide3.xml" Id="R2496d5bbeb624d82" /><Relationship Type="http://schemas.openxmlformats.org/officeDocument/2006/relationships/slide" Target="/ppt/slides/slide4.xml" Id="Reb5ebecac7504500" /><Relationship Type="http://schemas.openxmlformats.org/officeDocument/2006/relationships/slide" Target="/ppt/slides/slide5.xml" Id="R3a194cf54f524e3a" /><Relationship Type="http://schemas.openxmlformats.org/officeDocument/2006/relationships/slide" Target="/ppt/slides/slide6.xml" Id="R4d273d0bb93645e0" /><Relationship Type="http://schemas.openxmlformats.org/officeDocument/2006/relationships/slide" Target="/ppt/slides/slide7.xml" Id="Ra786fc01f50e498d" /><Relationship Type="http://schemas.openxmlformats.org/officeDocument/2006/relationships/slide" Target="/ppt/slides/slide8.xml" Id="R832a5657e6ef42b2" /><Relationship Type="http://schemas.openxmlformats.org/officeDocument/2006/relationships/slide" Target="/ppt/slides/slide9.xml" Id="Rd12e899a674f479a" /><Relationship Type="http://schemas.openxmlformats.org/officeDocument/2006/relationships/slide" Target="/ppt/slides/slide10.xml" Id="R7975e8672605451a" /><Relationship Type="http://schemas.openxmlformats.org/officeDocument/2006/relationships/slide" Target="/ppt/slides/slide11.xml" Id="Rf75d9e1b7faa48ad" /><Relationship Type="http://schemas.openxmlformats.org/officeDocument/2006/relationships/slide" Target="/ppt/slides/slide12.xml" Id="Rf8a9694662bf4e32" /><Relationship Type="http://schemas.openxmlformats.org/officeDocument/2006/relationships/slide" Target="/ppt/slides/slide13.xml" Id="Rda9590506017402e" /><Relationship Type="http://schemas.openxmlformats.org/officeDocument/2006/relationships/slide" Target="/ppt/slides/slide14.xml" Id="R009f168d3df149c8" /><Relationship Type="http://schemas.openxmlformats.org/officeDocument/2006/relationships/slide" Target="/ppt/slides/slide15.xml" Id="R77aacd2361244854" /><Relationship Type="http://schemas.openxmlformats.org/officeDocument/2006/relationships/slide" Target="/ppt/slides/slide16.xml" Id="Raae64b3120584e00" /><Relationship Type="http://schemas.openxmlformats.org/officeDocument/2006/relationships/slide" Target="/ppt/slides/slide17.xml" Id="R8cb84b47cad44c4d" /><Relationship Type="http://schemas.openxmlformats.org/officeDocument/2006/relationships/slide" Target="/ppt/slides/slide18.xml" Id="Rbbe718c2022843fb" /><Relationship Type="http://schemas.openxmlformats.org/officeDocument/2006/relationships/slide" Target="/ppt/slides/slide19.xml" Id="R88476b344c8940bc" /><Relationship Type="http://schemas.openxmlformats.org/officeDocument/2006/relationships/slide" Target="/ppt/slides/slide20.xml" Id="Rfc5712697adb40da" /><Relationship Type="http://schemas.openxmlformats.org/officeDocument/2006/relationships/slide" Target="/ppt/slides/slide21.xml" Id="R43acb0c2efbc4518" /><Relationship Type="http://schemas.openxmlformats.org/officeDocument/2006/relationships/slide" Target="/ppt/slides/slide22.xml" Id="R472ea67976e941db" /><Relationship Type="http://schemas.openxmlformats.org/officeDocument/2006/relationships/slide" Target="/ppt/slides/slide23.xml" Id="R9a487e33b4784384" /><Relationship Type="http://schemas.openxmlformats.org/officeDocument/2006/relationships/slide" Target="/ppt/slides/slide24.xml" Id="Rcd503a7ae51943c4" /><Relationship Type="http://schemas.openxmlformats.org/officeDocument/2006/relationships/slide" Target="/ppt/slides/slide25.xml" Id="R50154b6660f143a0" /><Relationship Type="http://schemas.openxmlformats.org/officeDocument/2006/relationships/slide" Target="/ppt/slides/slide26.xml" Id="R4982053b4c824e8b" /><Relationship Type="http://schemas.openxmlformats.org/officeDocument/2006/relationships/slide" Target="/ppt/slides/slide27.xml" Id="R42e4ea33e15041e0" /><Relationship Type="http://schemas.openxmlformats.org/officeDocument/2006/relationships/slide" Target="/ppt/slides/slide28.xml" Id="R71ef5679a2ba4d6f" /><Relationship Type="http://schemas.openxmlformats.org/officeDocument/2006/relationships/slide" Target="/ppt/slides/slide29.xml" Id="Rfe4353cc4d1747cb" /><Relationship Type="http://schemas.openxmlformats.org/officeDocument/2006/relationships/slide" Target="/ppt/slides/slide30.xml" Id="Raea891e2214a4279" /><Relationship Type="http://schemas.openxmlformats.org/officeDocument/2006/relationships/slide" Target="/ppt/slides/slide31.xml" Id="R89466f7bde7d4f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026898c009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b88e6eb17d45cf" /><Relationship Type="http://schemas.openxmlformats.org/officeDocument/2006/relationships/notesMaster" Target="/ppt/notesMasters/notesMaster1.xml" Id="R6b88cd48bb404d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bc46c2fbf04da1" /><Relationship Type="http://schemas.openxmlformats.org/officeDocument/2006/relationships/notesMaster" Target="/ppt/notesMasters/notesMaster1.xml" Id="Rddc1a3432ea046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8d2a95a3a64a8a" /><Relationship Type="http://schemas.openxmlformats.org/officeDocument/2006/relationships/notesMaster" Target="/ppt/notesMasters/notesMaster1.xml" Id="Rfe9f9024363642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1d25432b644455" /><Relationship Type="http://schemas.openxmlformats.org/officeDocument/2006/relationships/notesMaster" Target="/ppt/notesMasters/notesMaster1.xml" Id="R489fbe4d46c043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24a90b2eee4309" /><Relationship Type="http://schemas.openxmlformats.org/officeDocument/2006/relationships/notesMaster" Target="/ppt/notesMasters/notesMaster1.xml" Id="R59f98e623cfc45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ff80054dfa4290" /><Relationship Type="http://schemas.openxmlformats.org/officeDocument/2006/relationships/notesMaster" Target="/ppt/notesMasters/notesMaster1.xml" Id="R09415c2ec4754e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93e2a46d9f485c" /><Relationship Type="http://schemas.openxmlformats.org/officeDocument/2006/relationships/notesMaster" Target="/ppt/notesMasters/notesMaster1.xml" Id="R2fd34378ff8044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6686a90d6a46ab" /><Relationship Type="http://schemas.openxmlformats.org/officeDocument/2006/relationships/notesMaster" Target="/ppt/notesMasters/notesMaster1.xml" Id="R445433eada8445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823206ae3b494c" /><Relationship Type="http://schemas.openxmlformats.org/officeDocument/2006/relationships/notesMaster" Target="/ppt/notesMasters/notesMaster1.xml" Id="R40c2b64440844a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2c3ee6f6774489" /><Relationship Type="http://schemas.openxmlformats.org/officeDocument/2006/relationships/notesMaster" Target="/ppt/notesMasters/notesMaster1.xml" Id="R520e69ea4b434d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bf4656ed7c468d" /><Relationship Type="http://schemas.openxmlformats.org/officeDocument/2006/relationships/notesMaster" Target="/ppt/notesMasters/notesMaster1.xml" Id="R9d303c152bdc4e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1473e7b0454d50" /><Relationship Type="http://schemas.openxmlformats.org/officeDocument/2006/relationships/notesMaster" Target="/ppt/notesMasters/notesMaster1.xml" Id="R04d46aada3e64b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4a67580b664a77" /><Relationship Type="http://schemas.openxmlformats.org/officeDocument/2006/relationships/notesMaster" Target="/ppt/notesMasters/notesMaster1.xml" Id="R851619cdc6d14d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3900ec54bc4b5b" /><Relationship Type="http://schemas.openxmlformats.org/officeDocument/2006/relationships/notesMaster" Target="/ppt/notesMasters/notesMaster1.xml" Id="R67008e5d33fa40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2bcf3440294035" /><Relationship Type="http://schemas.openxmlformats.org/officeDocument/2006/relationships/notesMaster" Target="/ppt/notesMasters/notesMaster1.xml" Id="Rc2119d36434449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5e50a48df243a8" /><Relationship Type="http://schemas.openxmlformats.org/officeDocument/2006/relationships/notesMaster" Target="/ppt/notesMasters/notesMaster1.xml" Id="Ra4e948cdefd042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d4424d31ed4675" /><Relationship Type="http://schemas.openxmlformats.org/officeDocument/2006/relationships/notesMaster" Target="/ppt/notesMasters/notesMaster1.xml" Id="R8184634e5dfc45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ddba6916414937" /><Relationship Type="http://schemas.openxmlformats.org/officeDocument/2006/relationships/notesMaster" Target="/ppt/notesMasters/notesMaster1.xml" Id="R91dcbf0f2a1d4b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616a09bf8643d1" /><Relationship Type="http://schemas.openxmlformats.org/officeDocument/2006/relationships/notesMaster" Target="/ppt/notesMasters/notesMaster1.xml" Id="R2007fd301a3d49f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65785a3ae634999" /><Relationship Type="http://schemas.openxmlformats.org/officeDocument/2006/relationships/notesMaster" Target="/ppt/notesMasters/notesMaster1.xml" Id="R9254549ece3b4b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840c7f14894d22" /><Relationship Type="http://schemas.openxmlformats.org/officeDocument/2006/relationships/notesMaster" Target="/ppt/notesMasters/notesMaster1.xml" Id="Rc111ba7d074e4e1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123ca23f1b4f6d" /><Relationship Type="http://schemas.openxmlformats.org/officeDocument/2006/relationships/notesMaster" Target="/ppt/notesMasters/notesMaster1.xml" Id="R3a31885bcc9f42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4f436df6b7a4187" /><Relationship Type="http://schemas.openxmlformats.org/officeDocument/2006/relationships/notesMaster" Target="/ppt/notesMasters/notesMaster1.xml" Id="R4d923111d8cc4e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0209fe729e04397" /><Relationship Type="http://schemas.openxmlformats.org/officeDocument/2006/relationships/notesMaster" Target="/ppt/notesMasters/notesMaster1.xml" Id="R87681cfc1e9a4c0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ab6e3361d754234" /><Relationship Type="http://schemas.openxmlformats.org/officeDocument/2006/relationships/notesMaster" Target="/ppt/notesMasters/notesMaster1.xml" Id="R87d929de5b81439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31a21797354702" /><Relationship Type="http://schemas.openxmlformats.org/officeDocument/2006/relationships/notesMaster" Target="/ppt/notesMasters/notesMaster1.xml" Id="R4346ebe970e24f6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bab5b645b6444d2" /><Relationship Type="http://schemas.openxmlformats.org/officeDocument/2006/relationships/notesMaster" Target="/ppt/notesMasters/notesMaster1.xml" Id="R8966a3d2bcfc4a7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c6091614ba14e8e" /><Relationship Type="http://schemas.openxmlformats.org/officeDocument/2006/relationships/notesMaster" Target="/ppt/notesMasters/notesMaster1.xml" Id="R54ffaafd115a445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1bdcf156c0d4bad" /><Relationship Type="http://schemas.openxmlformats.org/officeDocument/2006/relationships/notesMaster" Target="/ppt/notesMasters/notesMaster1.xml" Id="R6a1aa4d2347a464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df589ec47f6469e" /><Relationship Type="http://schemas.openxmlformats.org/officeDocument/2006/relationships/notesMaster" Target="/ppt/notesMasters/notesMaster1.xml" Id="Ra060a69e09554b4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14e75a7f65b41ce" /><Relationship Type="http://schemas.openxmlformats.org/officeDocument/2006/relationships/notesMaster" Target="/ppt/notesMasters/notesMaster1.xml" Id="Rc4d37250f3844a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5ca63077245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4694fc6ad34959" /><Relationship Type="http://schemas.openxmlformats.org/officeDocument/2006/relationships/slideLayout" Target="/ppt/slideLayouts/slideLayout1.xml" Id="R34959ebbcf8b40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959ebbcf8b40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070625eac43d0" /><Relationship Type="http://schemas.openxmlformats.org/officeDocument/2006/relationships/notesSlide" Target="/ppt/notesSlides/notesSlide1.xml" Id="R5ccd1897644543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1acf1f7fd4b2a" /><Relationship Type="http://schemas.openxmlformats.org/officeDocument/2006/relationships/notesSlide" Target="/ppt/notesSlides/notesSlide2.xml" Id="Rb9435872909840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349ff4e9941c0" /><Relationship Type="http://schemas.openxmlformats.org/officeDocument/2006/relationships/notesSlide" Target="/ppt/notesSlides/notesSlide3.xml" Id="R018141f1a5cf41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8931e2cc94868" /><Relationship Type="http://schemas.openxmlformats.org/officeDocument/2006/relationships/notesSlide" Target="/ppt/notesSlides/notesSlide4.xml" Id="R26f5d90426e846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ede8097cd4e57" /><Relationship Type="http://schemas.openxmlformats.org/officeDocument/2006/relationships/notesSlide" Target="/ppt/notesSlides/notesSlide5.xml" Id="Rea488d9f103943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7a6634d4b4af2" /><Relationship Type="http://schemas.openxmlformats.org/officeDocument/2006/relationships/notesSlide" Target="/ppt/notesSlides/notesSlide6.xml" Id="R4502c91652f245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086912dae41e6" /><Relationship Type="http://schemas.openxmlformats.org/officeDocument/2006/relationships/notesSlide" Target="/ppt/notesSlides/notesSlide7.xml" Id="Rbbee60f28dba44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eb6f6bb1445c4" /><Relationship Type="http://schemas.openxmlformats.org/officeDocument/2006/relationships/notesSlide" Target="/ppt/notesSlides/notesSlide8.xml" Id="Rb84362ffe35847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ab9a6359d44a3" /><Relationship Type="http://schemas.openxmlformats.org/officeDocument/2006/relationships/notesSlide" Target="/ppt/notesSlides/notesSlide9.xml" Id="Rb778fbf6c1d447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997ab2f0c4a99" /><Relationship Type="http://schemas.openxmlformats.org/officeDocument/2006/relationships/notesSlide" Target="/ppt/notesSlides/notesSlide10.xml" Id="R71a9c781a7ec4f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9cd6019df47cd" /><Relationship Type="http://schemas.openxmlformats.org/officeDocument/2006/relationships/notesSlide" Target="/ppt/notesSlides/notesSlide11.xml" Id="R790353bc678642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6b7a89dcb4962" /><Relationship Type="http://schemas.openxmlformats.org/officeDocument/2006/relationships/notesSlide" Target="/ppt/notesSlides/notesSlide12.xml" Id="Rb1d2ea2b6fea45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3e8a532744235" /><Relationship Type="http://schemas.openxmlformats.org/officeDocument/2006/relationships/notesSlide" Target="/ppt/notesSlides/notesSlide13.xml" Id="R028210f9a1cd46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1c8e136924a5b" /><Relationship Type="http://schemas.openxmlformats.org/officeDocument/2006/relationships/notesSlide" Target="/ppt/notesSlides/notesSlide14.xml" Id="Ra5711f4a5d6948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5e28e44da43eb" /><Relationship Type="http://schemas.openxmlformats.org/officeDocument/2006/relationships/notesSlide" Target="/ppt/notesSlides/notesSlide15.xml" Id="R5df6b6b9984d44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5e989303349a7" /><Relationship Type="http://schemas.openxmlformats.org/officeDocument/2006/relationships/notesSlide" Target="/ppt/notesSlides/notesSlide16.xml" Id="R53218fed4f424a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ca2318e2246ae" /><Relationship Type="http://schemas.openxmlformats.org/officeDocument/2006/relationships/notesSlide" Target="/ppt/notesSlides/notesSlide17.xml" Id="R322beeb427b74d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20419da9f43da" /><Relationship Type="http://schemas.openxmlformats.org/officeDocument/2006/relationships/notesSlide" Target="/ppt/notesSlides/notesSlide18.xml" Id="R7a9af4de8b884b7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fe253434e4444" /><Relationship Type="http://schemas.openxmlformats.org/officeDocument/2006/relationships/notesSlide" Target="/ppt/notesSlides/notesSlide19.xml" Id="R817d99c39b9141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5502fb9764899" /><Relationship Type="http://schemas.openxmlformats.org/officeDocument/2006/relationships/notesSlide" Target="/ppt/notesSlides/notesSlide20.xml" Id="R52506c5755df41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048b4c6784618" /><Relationship Type="http://schemas.openxmlformats.org/officeDocument/2006/relationships/notesSlide" Target="/ppt/notesSlides/notesSlide21.xml" Id="Rd04154957f5e4f0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1c130d4594108" /><Relationship Type="http://schemas.openxmlformats.org/officeDocument/2006/relationships/notesSlide" Target="/ppt/notesSlides/notesSlide22.xml" Id="R773a1a5b2739490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b1b9a7844474e" /><Relationship Type="http://schemas.openxmlformats.org/officeDocument/2006/relationships/notesSlide" Target="/ppt/notesSlides/notesSlide23.xml" Id="Rccffab10cf0b48a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545e6efeb4ca5" /><Relationship Type="http://schemas.openxmlformats.org/officeDocument/2006/relationships/notesSlide" Target="/ppt/notesSlides/notesSlide24.xml" Id="R43b74bc9d294427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05857a7104bc2" /><Relationship Type="http://schemas.openxmlformats.org/officeDocument/2006/relationships/notesSlide" Target="/ppt/notesSlides/notesSlide25.xml" Id="Re6fe300d22334c5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a040ec6034f36" /><Relationship Type="http://schemas.openxmlformats.org/officeDocument/2006/relationships/notesSlide" Target="/ppt/notesSlides/notesSlide26.xml" Id="Rea57d0f1facf4a9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eac43423f4c3e" /><Relationship Type="http://schemas.openxmlformats.org/officeDocument/2006/relationships/notesSlide" Target="/ppt/notesSlides/notesSlide27.xml" Id="R9255d665961d422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f428b327e43a7" /><Relationship Type="http://schemas.openxmlformats.org/officeDocument/2006/relationships/notesSlide" Target="/ppt/notesSlides/notesSlide28.xml" Id="R6eb5dce7589a496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1cad08eb147a9" /><Relationship Type="http://schemas.openxmlformats.org/officeDocument/2006/relationships/notesSlide" Target="/ppt/notesSlides/notesSlide29.xml" Id="R04361d226ce3412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7b0f663214bc8" /><Relationship Type="http://schemas.openxmlformats.org/officeDocument/2006/relationships/notesSlide" Target="/ppt/notesSlides/notesSlide30.xml" Id="R2bb0e7c3e4764d3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a79137cdc4c57" /><Relationship Type="http://schemas.openxmlformats.org/officeDocument/2006/relationships/notesSlide" Target="/ppt/notesSlides/notesSlide31.xml" Id="Rd8d102140a1e44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907AB6-FCD2-4306-8FDA-6E6B631B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64FEE-B9D1-4519-B353-9B3F02D4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8CFB2-6453-4685-81EF-61395D39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25031-81E6-4487-B93B-29F24847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096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AI can do your job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CDE3C-1D6D-41BE-9AA8-FC6C437C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66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5B85C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F5B85C"/>
                </a:solidFill>
                <a:latin typeface="Aptos Display"/>
                <a:ea typeface="Aptos Display"/>
                <a:cs typeface="Aptos Display"/>
              </a:rPr>
              <a:t>...now what?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9DCC5-22C6-4E11-9CB1-4F00E478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523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2E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7E2EA"/>
                </a:solidFill>
                <a:latin typeface="Aptos"/>
                <a:ea typeface="Aptos"/>
                <a:cs typeface="Aptos"/>
              </a:rPr>
              <a:t>A talk about the work that still belongs to humans.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3940D-3111-4B64-9F2D-B63066C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6811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D8893-9958-46B8-8A9D-E4984DE3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14525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11F4C-0781-4AA7-A12C-9724AFD4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163" y="49244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2225C-F7EB-4D3D-83E0-B7005082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4857750"/>
            <a:ext cx="16811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75C69-888A-4BAC-AF94-FFA8A2F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4943475"/>
            <a:ext cx="14525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Creativity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2346D-F038-4329-8074-2581C1AB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9244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B4EAE-58B0-4D97-A935-37AD17DF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857750"/>
            <a:ext cx="16811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C4171-2742-48CE-A734-8FD07DC7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943475"/>
            <a:ext cx="14525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Manufacturing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2C6C2-31BB-4E1B-BE99-227EAC0C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88" y="49244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AFD61-C050-41E0-A5CA-B17EB8CC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788" y="4857750"/>
            <a:ext cx="16811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4DE20-E931-43FE-AD1D-D1FE890A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4943475"/>
            <a:ext cx="14525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8007C-B911-4891-A22C-2D8BC65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971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796C5-0C22-426A-83C1-663D7B74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14400"/>
            <a:ext cx="190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 is the work before the outcome is obvious.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08291-D3CB-4E0A-ABD0-A36FC973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29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1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172"/>
                </a:solidFill>
                <a:latin typeface="Aptos"/>
                <a:ea typeface="Aptos"/>
                <a:cs typeface="Aptos"/>
              </a:rPr>
              <a:t>First draft slide deck</a:t>
            </a:r>
          </a:p>
        </p:txBody>
      </p:sp>
    </p:spTree>
    <p:extLst>
      <p:ext uri="{BB962C8B-B14F-4D97-AF65-F5344CB8AC3E}">
        <p14:creationId xmlns:p14="http://schemas.microsoft.com/office/powerpoint/2010/main" val="11344964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192455-69EE-45FA-B8B0-8547947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5B287-FE28-4DBA-A427-5701A0EF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PRODUCT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A0F14-FAB0-4B70-9641-CBC59D19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Product work keeps returning to the same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4E1DF-9B46-47CE-8B87-99694BE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At the center of product work, the same sequence appears again and again.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DB34A-4B50-4ADC-A0F0-7E09B9B9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7704F-E3C2-4EB5-8D72-02740226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33BB4-F6EA-4E97-BB53-38430D7E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90750"/>
            <a:ext cx="10620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87367-68FC-4C96-B71C-0669676C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76475"/>
            <a:ext cx="8334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F6898-5F75-4750-99BC-EC5E3F22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2574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1706B-7102-4A13-BE57-A9905A6E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88" y="2190750"/>
            <a:ext cx="10620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22298-EAFF-42C1-9B19-2D577BD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2276475"/>
            <a:ext cx="8334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Creativity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04986-F560-40E4-956C-1E24446C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574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71B23-E804-45DF-9669-355441B9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90750"/>
            <a:ext cx="10620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2488C-37E2-4FEA-9DF0-87C90B04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76475"/>
            <a:ext cx="8334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Manufacturing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0FFCF-044B-42A7-B379-810EE07B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563" y="22574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FA281-FC3C-47D1-A74D-130B9578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963" y="2190750"/>
            <a:ext cx="10620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512F6-8CCC-4080-9DF6-4DCD8FB1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263" y="2276475"/>
            <a:ext cx="8334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87156-1733-44F3-B19F-D355B2B8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 product is never just built once. It keeps cycling.</a:t>
            </a:r>
          </a:p>
        </p:txBody>
      </p:sp>
    </p:spTree>
    <p:extLst>
      <p:ext uri="{BB962C8B-B14F-4D97-AF65-F5344CB8AC3E}">
        <p14:creationId xmlns:p14="http://schemas.microsoft.com/office/powerpoint/2010/main" val="18892003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8D911B-AAC2-4C90-9773-B1E8F18E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3800B-C041-4A64-914F-9EB9C97E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ROLE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4A1A0-D7DD-4A49-94B4-086CDC12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role labels hide the real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FD46C-33FD-4601-968F-384CA92B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Product, design, engineering, and support are not isolated lanes. They are names for where the loop usually shows 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9D230-E0ED-459E-AC6B-EEEE4DB2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21A03-5C35-4372-A8EB-2F8F6396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317DE-0E18-4CD7-BC32-61394570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239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0AC4F-BE75-4CED-BB58-E82B2BB5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27635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649D8-113F-475A-9163-EEA84B32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239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D6D4A-A099-4B20-81B5-4772E8A5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239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A26C3-D8D9-4EEC-8BE0-9F30682A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27635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8C7A5-2292-4ACD-AF3E-D2D823DC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9550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53A3D-D9EE-422E-8EFC-E19F7CE3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4790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47D7D-1E1D-4A55-ACD4-3E1E1C9F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955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DDC58-F34B-4F15-9F06-234260F3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57086-CCAD-4E2A-9B36-313EDBBA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4790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87005-658B-4BFE-8997-C784966C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670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45EBE-0779-43AB-A402-FCB5F822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1945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Manufacturing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5E093-69B7-4F12-A702-D0439174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670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0904F-68A4-4CF2-A28A-FBA4F566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670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5ED94-1455-47DE-AA8A-2FC8CB6C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Engineering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55411-9998-4E08-BF62-39829E8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3860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504A2-CD5D-467A-8203-FD33D47A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9100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E07B1-3238-43BF-B730-74CD181C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386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3B1F2-7663-4B0F-8841-4094EA9C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0FCCA6-84CA-48A3-8AAC-342F98B1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91000"/>
            <a:ext cx="1457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Support</a:t>
            </a:r>
          </a:p>
        </p:txBody>
      </p:sp>
    </p:spTree>
    <p:extLst>
      <p:ext uri="{BB962C8B-B14F-4D97-AF65-F5344CB8AC3E}">
        <p14:creationId xmlns:p14="http://schemas.microsoft.com/office/powerpoint/2010/main" val="14379990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01A407-9B45-4678-9087-C7802AFE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565B7-E328-4DBD-B631-BD6729D7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DEEPER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B5D47-D0C8-448D-90D8-F0F382CA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Every discipline runs the loop inside itself.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3F9DD-5897-4349-AD09-2E41952A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Design has discovery, brainstorming, prototypes, and testing. Engineering has spikes, prototypes, production code, and observability.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BA205-AF09-4EED-8711-F2F1E704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35511-7675-4FBA-BEEE-0E315718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E1187-E332-4D4A-B690-632398A5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A62D9-36CA-4D9B-9D1F-1DD5AA65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990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E1EC1-F4AF-427E-AD22-472616D2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9478C-9CA2-48E7-B705-87F7AC74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81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10B3B-5455-484E-BD14-AC106084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287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4CB46-6744-45E6-9162-E7487BD5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81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Spikes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5B640-8E80-4A73-920A-0BFDBC17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FA642-DF70-4EB0-A1D4-A614392D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622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Brainstorming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4A666-166B-4C2A-8690-55A1FD23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BD9B4-5D1B-45C0-992D-1640E02A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622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Prototypes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FA190-0766-48F5-B2E7-5C24B287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9B235-C537-4370-BAD8-40F26AD9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Prototypes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72252-2EF6-438E-BF40-95563AF7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E3883-0FCB-4E2A-AB29-F383A6EF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432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Production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1F6B3-4EAF-4130-980C-5D72667D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F66FD-3C7D-44F8-8242-3695B4FF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243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User 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0FB4A-BEB4-440C-9FE3-36410F98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719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0586B-2DCD-4B5E-8B97-CDE09B53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243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5632455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A536D-9142-4CD1-9723-A50F4550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48EB6-55A4-4EC0-B567-A1598567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F3FF8-B382-4D11-956E-CA31667D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THE DIFFERENCE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78BB7-1758-4DD5-A7F1-5837FE22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One stage is not like the others.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44916-8D95-4B5C-8B74-3440E147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AD3DF"/>
                </a:solidFill>
                <a:latin typeface="Aptos"/>
                <a:ea typeface="Aptos"/>
                <a:cs typeface="Aptos"/>
              </a:rPr>
              <a:t>Research, manufacturing, and feedback all begin with a known target. Creativity begins before the target is clear.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422C0-0171-4BFF-8502-AD5C1CD5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C2287-4212-4440-9DC2-9BB98E41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FCE3D-6962-433F-863A-4107416B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14288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6379E-09F4-43B2-8168-49A4F0DC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19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D482D-B96D-4273-BE95-034D6AB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D4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D4E0"/>
                </a:solidFill>
                <a:latin typeface="Aptos"/>
                <a:ea typeface="Aptos"/>
                <a:cs typeface="Aptos"/>
              </a:rPr>
              <a:t>known topic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69AB6-4BA9-4900-AB94-DE52CE49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14288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386D6-CF29-4EA9-9C2E-94226086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336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Manufacturing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42D56-DD0A-47DB-B9DD-3C94CC23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526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D4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D4E0"/>
                </a:solidFill>
                <a:latin typeface="Aptos"/>
                <a:ea typeface="Aptos"/>
                <a:cs typeface="Aptos"/>
              </a:rPr>
              <a:t>known spec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5A60D-FAD7-43A9-8C02-630CA900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14288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2A498-C583-48B1-9B48-504035CD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7D1B7-5567-450B-A0BF-F7A8567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D4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D4E0"/>
                </a:solidFill>
                <a:latin typeface="Aptos"/>
                <a:ea typeface="Aptos"/>
                <a:cs typeface="Aptos"/>
              </a:rPr>
              <a:t>known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A7CD2-86D5-4F41-8AA1-D32AA95F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A0B9B-EEA7-4FBB-8145-F6B2AE14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624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5AF9F-BD2A-4A1C-8E10-1791EAE0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814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unknown outcome</a:t>
            </a:r>
          </a:p>
        </p:txBody>
      </p:sp>
    </p:spTree>
    <p:extLst>
      <p:ext uri="{BB962C8B-B14F-4D97-AF65-F5344CB8AC3E}">
        <p14:creationId xmlns:p14="http://schemas.microsoft.com/office/powerpoint/2010/main" val="4835732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BABD9-5780-4091-8CA8-CC286C3A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B62B1-A1E9-4335-A52A-9E2F54A4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02718-6F10-420A-A495-3C869B71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AI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898B5-423E-4F6D-93AD-F46C2DCD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AI is strongest when the outcome is already defined.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12F10-E47D-4FA7-8EBF-8ACC3B5A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AD3DF"/>
                </a:solidFill>
                <a:latin typeface="Aptos"/>
                <a:ea typeface="Aptos"/>
                <a:cs typeface="Aptos"/>
              </a:rPr>
              <a:t>When the work has a clear outcome, it can be handed to a workflow, an agent, a factory.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21B9A-ACFF-48C3-8DD6-CB005788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18D55-F9E2-4D28-84DF-3011ED89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93E60-0478-4DFF-8C03-80E4F100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14288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8FEEB-3D55-4C95-877F-3C284A5A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66850"/>
            <a:ext cx="1123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well-defined</a:t>
            </a:r>
          </a:p>
          <a:p xmlns:a="http://schemas.openxmlformats.org/drawingml/2006/main">
            <a:pPr algn="ctr"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3B30A-ADA6-40D2-9330-F4C7853F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4C7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4C7D4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BC1D2-BF17-4C4C-AE56-4BFD0B01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43000"/>
            <a:ext cx="1257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87E96-438C-4681-A44D-455151DA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95400"/>
            <a:ext cx="952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AI</a:t>
            </a:r>
          </a:p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C32C9-0C29-4190-829E-C60B4FBB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00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4C7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4C7D4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A8105-0327-49E7-ABA6-F6D666DD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352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14288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3ABB3-CCFE-447A-91B8-00CDDC9D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66850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factory</a:t>
            </a:r>
          </a:p>
          <a:p xmlns:a="http://schemas.openxmlformats.org/drawingml/2006/main">
            <a:pPr algn="ctr">
              <a:def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7D1F0-BD85-4B99-9CA1-0290A7C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502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78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2BDA6-6F4D-4FE0-AB7C-C0611AC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390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AI is not waiting for mystery.</a:t>
            </a:r>
          </a:p>
          <a:p xmlns:a="http://schemas.openxmlformats.org/drawingml/2006/main">
            <a:pPr algn="ctr">
              <a:def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It is waiting for a target.</a:t>
            </a:r>
          </a:p>
        </p:txBody>
      </p:sp>
    </p:spTree>
    <p:extLst>
      <p:ext uri="{BB962C8B-B14F-4D97-AF65-F5344CB8AC3E}">
        <p14:creationId xmlns:p14="http://schemas.microsoft.com/office/powerpoint/2010/main" val="19299462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771AEE-58B1-4F33-8C8A-DE53B086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83D3A-32E5-4400-BAC4-5EF6171F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A54BA-FB41-4012-A138-E0F9B224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98A44-4551-45AF-B3AF-8607AF10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Let AI take the factory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A894F-4B8D-4B44-817F-5693B246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AD3DF"/>
                </a:solidFill>
                <a:latin typeface="Aptos"/>
                <a:ea typeface="Aptos"/>
                <a:cs typeface="Aptos"/>
              </a:rPr>
              <a:t>Make the well-defined work cheaper. Save your judgment for what should exist in the first place.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CE2D7-F93D-40A5-A5BA-21956ACE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BF3DF-6E5A-4116-82BE-0C2E8580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D36A1-C018-4E30-B87A-E479B7C9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1295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>
              <a:alpha val="20000"/>
            </a:srgbClr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46B52-6C75-466E-A0B2-80B2AB91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097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F33F5-44B7-4026-A042-45CAE2EA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57300"/>
            <a:ext cx="1504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>
              <a:alpha val="20000"/>
            </a:srgbClr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EBABB-F8BD-4A84-8FCB-7F85C0EB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097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Manufacturing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1651A-8FE7-4435-A8BA-851DEBC0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257300"/>
            <a:ext cx="1295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>
              <a:alpha val="20000"/>
            </a:srgbClr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EC73A-8E84-4F3F-92A9-2AB61C2D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4097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60C07-D1C5-4DEF-A30B-BEE0CAE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FE4B3-D7F6-4DA6-A3C4-C38CF78B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076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6E403-97C8-4039-965B-9F6E42F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4C7D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4C7D4"/>
                </a:solidFill>
                <a:latin typeface="Aptos"/>
                <a:ea typeface="Aptos"/>
                <a:cs typeface="Aptos"/>
              </a:rPr>
              <a:t>make factories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DE6E3-A5BC-4074-845C-48B32CD6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69279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ED64A6-E2D3-4101-81A6-E57BC2A1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E85EB-F404-456C-9877-64BFF833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0A8D4-74B8-4042-BC16-E1902EFA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9CAEA-7148-4FBA-A47F-45C2D590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8858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Your new job is creativity.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CD9C9-1542-4DA7-9073-02FBB667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19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5DFE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5DFE8"/>
                </a:solidFill>
                <a:latin typeface="Aptos"/>
                <a:ea typeface="Aptos"/>
                <a:cs typeface="Aptos"/>
              </a:rPr>
              <a:t>Not as decoration. As leverage.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56100-7FB3-4164-91C6-472DA78F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>
              <a:alpha val="20000"/>
            </a:srgbClr>
          </a:solidFill>
          <a:ln xmlns:a="http://schemas.openxmlformats.org/drawingml/2006/main" w="19050">
            <a:solidFill>
              <a:srgbClr val="F5B8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4333C-C261-4B4E-8B29-81013A35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24000"/>
            <a:ext cx="1047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F5B85C"/>
                </a:solidFill>
                <a:latin typeface="Aptos Display"/>
                <a:ea typeface="Aptos Display"/>
                <a:cs typeface="Aptos Display"/>
              </a:defRPr>
            </a:pPr>
            <a:r>
              <a:rPr sz="8400" b="1">
                <a:solidFill>
                  <a:srgbClr val="F5B85C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7F647-D5E5-43A0-AEC8-5AD19A14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765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unknown</a:t>
            </a:r>
          </a:p>
          <a:p xmlns:a="http://schemas.openxmlformats.org/drawingml/2006/main">
            <a:pPr algn="ctr">
              <a:def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2773864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0E228A-8BC3-4DAC-862A-0E3CFA1C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A80FF-17B8-4FFE-AA4F-F2430C8A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5FB82-63C4-4633-B84C-BDF45A24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 is not owned by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2B67F-76C6-449A-9D1C-6D1019FD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It is not just visual expression. It is the work of discovery when the answer is not obvious.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19A4D-45C5-433E-9E3F-F45942F7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AA4C7-BB58-417E-BED9-CA506612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3415A-3C85-4ADA-B993-8A17E20C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DE033-21C6-489C-891F-B82B3674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81150"/>
            <a:ext cx="1504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not just</a:t>
            </a:r>
          </a:p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visual polish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2CB99-B007-4B20-85EA-4F48A4B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287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2FD78-C4A0-4B62-AF58-3904121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811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discovery</a:t>
            </a:r>
          </a:p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under 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E6B95-DEA9-45ED-A05B-978570A9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Design has craft.</a:t>
            </a:r>
          </a:p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It does not have a monopoly.</a:t>
            </a:r>
          </a:p>
        </p:txBody>
      </p:sp>
    </p:spTree>
    <p:extLst>
      <p:ext uri="{BB962C8B-B14F-4D97-AF65-F5344CB8AC3E}">
        <p14:creationId xmlns:p14="http://schemas.microsoft.com/office/powerpoint/2010/main" val="4088100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FA6B3-7C5B-47EC-956B-2C43681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3EA04-C8F6-4EA2-8A72-28067135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CF1D8-89DD-4643-BFE1-0E88A510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 starts when the answer is not obvious.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5BF1B-EA03-48EE-9E0D-20C55D6C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It is exploring what is possible so you can figure out what is worth making.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51B83-3EA7-431C-93AC-DF64E5DF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92221-FA5F-46BB-A48F-82AC0808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AE619-8C50-4C8B-831D-5CF993D0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382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67314-2B7D-4382-A294-31A2D29D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90650"/>
            <a:ext cx="1123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known</a:t>
            </a:r>
          </a:p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806F1-FBEE-40EE-84F2-2692B6D2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9906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14288">
            <a:solidFill>
              <a:srgbClr val="F16D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8F1C5-2E6C-4DB9-B61C-DF9F468C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43000"/>
            <a:ext cx="1504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unknown</a:t>
            </a:r>
          </a:p>
          <a:p xmlns:a="http://schemas.openxmlformats.org/drawingml/2006/main">
            <a:pPr algn="ctr">
              <a:defRPr sz="187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territory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44E41-B0D7-4D6C-8FC7-FD4A34AF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6BD0B-A3BB-4645-BF74-4423EA36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creativity lives here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331AB-8D5C-41E1-92A6-73E50554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147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9FC06-2B70-4B90-AA68-E6714FF0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71850"/>
            <a:ext cx="342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27197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5B39B0-A7C7-44DD-BA8A-72563169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4F044-59A6-4795-80AD-231AF4B8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LEVERAGE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9CAF8-DBEE-4411-912B-188C2FA7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Before anything is made, someone decides what is worth making.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4B4FD-061A-45A8-9675-A4B22B36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That decision is where humans in the loop really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77576-388F-4928-870B-EFEF4F99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ABBFC-E76A-4194-87D0-8EBBC595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BA481-A252-4758-9F53-155A081B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76350"/>
            <a:ext cx="1409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4A7BA-C078-4CB4-BC0D-8B34E8A8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28750"/>
            <a:ext cx="1104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possible</a:t>
            </a:r>
          </a:p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EA29A-7EEC-4C89-9B41-4AC67330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1676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A8D85-F6A9-42E5-80D2-FDFA8CED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76350"/>
            <a:ext cx="1371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worth</a:t>
            </a:r>
          </a:p>
          <a:p xmlns:a="http://schemas.openxmlformats.org/drawingml/2006/main">
            <a:pPr algn="ctr">
              <a:def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making?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1D6D1-F4DE-4AAF-9172-BEC32A08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276350"/>
            <a:ext cx="1295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>
              <a:alpha val="33333"/>
            </a:srgbClr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F7659-B493-4BFF-A1E1-DEEFB3F2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4287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factory</a:t>
            </a:r>
          </a:p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519C7-0C57-4E1E-A42B-032FFFA5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52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E3E4C-7F14-4FE1-83A8-E9A222C9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52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5863A-3C84-4EB9-A582-FE822646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gate is the leverage.</a:t>
            </a:r>
          </a:p>
        </p:txBody>
      </p:sp>
    </p:spTree>
    <p:extLst>
      <p:ext uri="{BB962C8B-B14F-4D97-AF65-F5344CB8AC3E}">
        <p14:creationId xmlns:p14="http://schemas.microsoft.com/office/powerpoint/2010/main" val="18195123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77E84-9928-4ECA-BE22-940D01F5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4E151-1452-4130-9D0A-563E14D3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58AB0-DB21-4325-BE93-5E66BF19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THE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D87F6-51D0-4102-91C0-82551800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Creative work does not move in a straight 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BB993-BD92-4628-8AC3-5FBFAB26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AD3DF"/>
                </a:solidFill>
                <a:latin typeface="Aptos"/>
                <a:ea typeface="Aptos"/>
                <a:cs typeface="Aptos"/>
              </a:rPr>
              <a:t>You try something, hit a wall, keep a piece, abandon an idea, borrow unexpectedly, and return with more understanding.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2973D-A337-4549-A925-A75FDDB3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489CE-ABE6-4FD3-9B1B-97BCAE42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0C8EE-F7B3-4BED-BA49-7FB8D83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4C9CA-C1EA-40D4-A81D-F42C54E3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62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9C0DA-E441-4D68-9E50-BC1C25C4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BEF98-F454-458C-A463-32DC07D8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0B9F2-4977-41F4-8A87-957A94D7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3F025-77F6-4B33-9351-EFE7FB5A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72B9E-CADE-4704-A993-3E1C5F56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6D568-D9B5-4A4E-8907-A606EF62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8A730-3186-433B-A1C0-C7D07E68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FDDFB-2C61-450B-BA95-6FDE1C9F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62250"/>
            <a:ext cx="1352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BBA66-5717-43CE-B5DD-F8144888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44936-5B12-4F0A-9878-13085817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0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try</a:t>
            </a:r>
          </a:p>
          <a:p xmlns:a="http://schemas.openxmlformats.org/drawingml/2006/main">
            <a:pPr algn="ctr">
              <a:def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hit wall</a:t>
            </a:r>
          </a:p>
          <a:p xmlns:a="http://schemas.openxmlformats.org/drawingml/2006/main">
            <a:pPr algn="ctr">
              <a:def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keep a piece</a:t>
            </a:r>
          </a:p>
          <a:p xmlns:a="http://schemas.openxmlformats.org/drawingml/2006/main">
            <a:pPr algn="ctr">
              <a:def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return later</a:t>
            </a:r>
          </a:p>
        </p:txBody>
      </p:sp>
    </p:spTree>
    <p:extLst>
      <p:ext uri="{BB962C8B-B14F-4D97-AF65-F5344CB8AC3E}">
        <p14:creationId xmlns:p14="http://schemas.microsoft.com/office/powerpoint/2010/main" val="14292593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5951E8-4DBC-4354-9537-C06FF010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56F06-8A4A-415D-A67A-F9C0963F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DB41F-D733-4C9A-B16D-8C1EF6F3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There is method inside the chaos.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F0734-155C-487A-B1DC-035D64EA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The goal is not to manufacture creativity. The goal is to create conditions where the right idea becomes inevitable.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8F93F-4431-4248-A901-A803C160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738C5-A4A0-4C74-B49E-CA669E53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0B8F5-39BF-4BBA-8A5D-62882908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668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1AB46-28E4-4562-9206-8D2FAD70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192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Patterns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2019E-B1B6-4894-8C47-0271208D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526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CD8A3-DE88-4CF7-B300-2147C1B5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050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C9A96-1BB8-4C91-B578-7205C48B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384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2B4DA-E7B9-4307-886E-DCF7EB1D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Practices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F0263-50BD-49E6-8EF6-5383E3B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242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1C4A5-B5C5-43EB-B21C-5F8E94C3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Environment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2AE35-E9FD-42AD-880D-09D63D3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100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44A1B-4149-423A-9551-D4ED0A27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624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Inevitable</a:t>
            </a:r>
          </a:p>
        </p:txBody>
      </p:sp>
    </p:spTree>
    <p:extLst>
      <p:ext uri="{BB962C8B-B14F-4D97-AF65-F5344CB8AC3E}">
        <p14:creationId xmlns:p14="http://schemas.microsoft.com/office/powerpoint/2010/main" val="1459840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177772-4717-4397-A2E9-5A3D1329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D8C52-AEF3-44AF-A721-F29AE806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B3634-40D8-4479-A1B1-C364343A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Creativity has a rhythm: expansion and contraction.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53EBE-1643-4083-BB91-80E0B95A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Ask every question. Decide which answers matter. Repeat.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23286-E56C-4156-B2EE-5DF0FB51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16BB3-1FD9-4FBB-A6DD-DF46B188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1953E-1E1F-4F22-AE09-65FCE5F7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2573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28575">
            <a:solidFill>
              <a:srgbClr val="2331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62DFA-D483-46B9-AF8C-80F67C4D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383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4844F-72E7-4C6D-B2F3-1CB7815D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EXPAND</a:t>
            </a:r>
          </a:p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ask every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2FA4B-C73A-476A-87A5-6251B36E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051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F25B6-67E5-411B-AF63-B770947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504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CONTRACT</a:t>
            </a:r>
          </a:p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decide what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CD520-64E8-4476-A2CF-92B3B722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14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again</a:t>
            </a:r>
          </a:p>
          <a:p xmlns:a="http://schemas.openxmlformats.org/drawingml/2006/main">
            <a:pPr algn="ctr">
              <a:defRPr sz="22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and again</a:t>
            </a:r>
          </a:p>
        </p:txBody>
      </p:sp>
    </p:spTree>
    <p:extLst>
      <p:ext uri="{BB962C8B-B14F-4D97-AF65-F5344CB8AC3E}">
        <p14:creationId xmlns:p14="http://schemas.microsoft.com/office/powerpoint/2010/main" val="10663323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74A685-1081-4E97-8C10-AD3F8F4D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B6DC0-1A4B-4B3B-8AB8-CFC1CB21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927F7-D1D7-4BEB-A5F3-836FD5F5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F48A7-D530-46ED-9B6E-365E7248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9429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The output of creativity is not the artifacts you make along the way. The output is the understanding you gained while making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BF764-CCBC-47E8-84DF-75B44B95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9E4"/>
                </a:solidFill>
                <a:latin typeface="Aptos"/>
                <a:ea typeface="Aptos"/>
                <a:cs typeface="Aptos"/>
              </a:rPr>
              <a:t>The artifacts matter because they teach you how to recognize the right answer.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60A01-9CF6-4B03-A6D2-606A0A2E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CBB7E-71D1-4DE9-ADB7-5453AE20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762B4-DCEA-4A69-8514-0146C9B5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</p:spTree>
    <p:extLst>
      <p:ext uri="{BB962C8B-B14F-4D97-AF65-F5344CB8AC3E}">
        <p14:creationId xmlns:p14="http://schemas.microsoft.com/office/powerpoint/2010/main" val="138240762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9034A5-ED4C-4362-8DDF-5C9B47E6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ED5E8-E1EC-414E-BA62-0184EC5C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TWO LEVERS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26087-84ED-4481-B81C-3096779C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Two levers improve creativity: capacity and craft.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1A7BC-F1CD-42FF-B478-C5605E06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Capacity raises the ceiling for ideas. Craft makes ideas real enough to learn from.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88F10-8E73-4386-BE2C-0ECC279F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388D9-5904-4838-8E44-6A535D1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0E650-876C-415A-ADFE-612B7767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8110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91203-C384-4D56-9B95-72F9A068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3350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Capacity</a:t>
            </a:r>
          </a:p>
          <a:p xmlns:a="http://schemas.openxmlformats.org/drawingml/2006/main">
            <a:pPr algn="ctr"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come up with ideas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58556-7504-44B5-A80B-6495867E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8110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14288">
            <a:solidFill>
              <a:srgbClr val="86C2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E9A9E-F028-489F-86B8-F770D7E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33350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Craft</a:t>
            </a:r>
          </a:p>
          <a:p xmlns:a="http://schemas.openxmlformats.org/drawingml/2006/main">
            <a:pPr algn="ctr"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make ideas real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8933C-49E6-498C-8D32-4F2C2EF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05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ceiling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A998E-D14B-4B89-89DF-40E383F9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05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contact with reality</a:t>
            </a:r>
          </a:p>
        </p:txBody>
      </p:sp>
    </p:spTree>
    <p:extLst>
      <p:ext uri="{BB962C8B-B14F-4D97-AF65-F5344CB8AC3E}">
        <p14:creationId xmlns:p14="http://schemas.microsoft.com/office/powerpoint/2010/main" val="208923090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4C7789-4403-4D58-821C-3FDCC484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180D4-B3D9-4BB2-9BD2-AAAD9793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28B12-ECA9-42E7-AB7C-8E619EF2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Capacity is the ceiling on ideas.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0824A-6607-4C0A-86A6-025D9AB7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Broad experiences expand what you can connect. Deep expertise contracts those connections into judgment.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F97DB-554C-48E4-B293-2BF90F5D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5EF49-6776-406C-8659-CDE548E1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EDC18-0562-4B9F-A917-100204C2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14450"/>
            <a:ext cx="285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B342C-7230-4D0E-86F3-D146D55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141B6-A487-4FF2-9093-4E17348C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809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deep</a:t>
            </a:r>
          </a:p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expertise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ACF6C-4EBE-4417-A78D-584B5B63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67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broad experiences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0D1D1-B5E3-47A5-B681-C7DFCDA4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383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D62D9-77B1-407F-90F1-A1AFE439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ideas</a:t>
            </a:r>
          </a:p>
        </p:txBody>
      </p:sp>
    </p:spTree>
    <p:extLst>
      <p:ext uri="{BB962C8B-B14F-4D97-AF65-F5344CB8AC3E}">
        <p14:creationId xmlns:p14="http://schemas.microsoft.com/office/powerpoint/2010/main" val="82503283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E83757-75D6-44E7-B308-704E3C5E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58EF2-72AA-4FE7-A196-EA0F77B8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CATALYSTS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35E1E-7A5E-4B56-9311-3A6A76E2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Ideas are reactions.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6E4ED-156E-45EB-8C8A-B85476CD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There is always a catalyst: frustration, delight, surprise, fear, boredom, envy, curiosity.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7E349-C073-4411-8B99-BE144D49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C0F6A-B920-47A7-ADD4-6414A99E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223DE-A97B-48B1-8489-C0F2C5DF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933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AE759-8E1D-4DB0-B031-E0D44BAE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reaction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57C6F-9413-48AC-92D8-2AAE3EAB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CA278-7204-4132-B13B-C122F771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933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3F784-171A-4B74-B246-3F930606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why?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B1AE0-3D0B-4BDA-B45C-E7832061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9DAA8-377B-4B57-B767-ECC78F25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09750"/>
            <a:ext cx="933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3FA69-8922-4A31-BB25-CB80692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621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97266-3177-4476-A683-94999AB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193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EDA51-8AD3-40B6-9A1C-F758CC71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86000"/>
            <a:ext cx="933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01F33-4E38-4D19-AEB2-4800E36A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384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DC722-753A-4965-AA52-87A8E0F7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3617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36172"/>
                </a:solidFill>
                <a:latin typeface="Aptos Display"/>
                <a:ea typeface="Aptos Display"/>
                <a:cs typeface="Aptos Display"/>
              </a:rPr>
              <a:t>frustration / delight / surprise / curiosity</a:t>
            </a:r>
          </a:p>
        </p:txBody>
      </p:sp>
    </p:spTree>
    <p:extLst>
      <p:ext uri="{BB962C8B-B14F-4D97-AF65-F5344CB8AC3E}">
        <p14:creationId xmlns:p14="http://schemas.microsoft.com/office/powerpoint/2010/main" val="79234886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0E1BBD-D064-43F4-B920-E6C7ED03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F6B4E-EB89-4001-9238-A49BDADB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21333-E8FF-49C4-AB0C-97BD2B56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You cannot have ideas for things you never notice.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02AF9-FBB9-44C8-AB1F-ADC58EC5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The tiny pause after a reaction is where creativity begins.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4E18E-3A39-4FA1-903C-BF1541DA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E3769-6140-4A41-812F-34D8DCA5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9D57C-FD01-4792-96DD-B33BEB28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14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04989-38CC-46BB-A44E-7A16CD06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85950"/>
            <a:ext cx="112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pause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B7C4A-7C79-44B2-BF55-B5DFED8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2425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Why do I like this?</a:t>
            </a:r>
          </a:p>
          <a:p xmlns:a="http://schemas.openxmlformats.org/drawingml/2006/main">
            <a:pPr algn="ctr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Why do I hate this?</a:t>
            </a:r>
          </a:p>
          <a:p xmlns:a="http://schemas.openxmlformats.org/drawingml/2006/main">
            <a:pPr algn="ctr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How would I do it better?</a:t>
            </a:r>
          </a:p>
        </p:txBody>
      </p:sp>
    </p:spTree>
    <p:extLst>
      <p:ext uri="{BB962C8B-B14F-4D97-AF65-F5344CB8AC3E}">
        <p14:creationId xmlns:p14="http://schemas.microsoft.com/office/powerpoint/2010/main" val="132558096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60EB18-D891-41A3-AEA1-3198BE38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E0992-EBA9-4013-981C-05FC1BA9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COLLECT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972CF-1A3F-49CA-A24D-96F91A33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Collect the moments that made you pause.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67821-BA99-4CF6-8E7D-E6112ABE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Build a library of raw material. A moment that does not click today may become useful a year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B5405-9FF7-4E23-9DF8-77EC5B7E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6450D-8F4D-4E9C-B61A-5612A7C2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9C6D9-49ED-4094-8E86-9B556639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D9834-09E2-4591-8437-E81C4E1A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239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9BEBB-19D1-44EB-A9AD-9D1B4702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1239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F622A-FE22-4C2C-8FF2-FCB32B5C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34BF6-20BF-4F40-840C-FEDE6E8B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145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F1E6E-A9F5-4BC1-9D5B-C09F8471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145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672F4-2AE9-4CBF-9DB2-1FEECEFA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FE050-1B9C-4DE3-B4C8-772CB3F7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BCB68-1631-42D3-8876-407AE2F1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05150"/>
            <a:ext cx="106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5C76A-9726-450D-BDE0-74D2E16D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053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drop in:</a:t>
            </a:r>
          </a:p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swipe file / mymind / collage</a:t>
            </a:r>
          </a:p>
        </p:txBody>
      </p:sp>
    </p:spTree>
    <p:extLst>
      <p:ext uri="{BB962C8B-B14F-4D97-AF65-F5344CB8AC3E}">
        <p14:creationId xmlns:p14="http://schemas.microsoft.com/office/powerpoint/2010/main" val="130818492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DD30C2-CCE8-4440-BBB8-7C81BAC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1375B-825E-4858-BE9C-F2A4C467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7C277-7CEE-4713-9F4E-784F7F78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FORMULA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D4201-4975-4529-ABB1-DBB5722B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9429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Ideas are the result of viewing your experiences through the lens of your expertise.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E9710-3D83-4E28-9659-0E945176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9E4"/>
                </a:solidFill>
                <a:latin typeface="Aptos"/>
                <a:ea typeface="Aptos"/>
                <a:cs typeface="Aptos"/>
              </a:rPr>
              <a:t>Experience supplies material. Expertise focuses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87A29-77BF-4647-B5AB-77D9CCE5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C0E12-7402-45FC-87B6-CF6117FE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B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A0B3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64500-C20B-4FAF-96E9-40FB2E2C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81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8196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</p:spTree>
    <p:extLst>
      <p:ext uri="{BB962C8B-B14F-4D97-AF65-F5344CB8AC3E}">
        <p14:creationId xmlns:p14="http://schemas.microsoft.com/office/powerpoint/2010/main" val="142417604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F65D3-AB2D-4BA0-AC55-C52977E7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1B4B1-4C92-46EA-9A8C-14B13AC5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67BE6-2E6C-4666-BB05-8DC79E34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Try new things.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0EA0B-9AA3-49CE-B1A7-044894EC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Experiences do not live in isolation. They interact and create connections you could not make before.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A91F0-4342-4950-88B5-E5A72659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2A631-01CA-44BA-AC27-5DE8DD8C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2A6C5-95D0-48B3-8D07-B5CA4497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38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62E0E-D82D-4D1F-8D26-0085420E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D3D93-EDF1-4F62-B566-06A85FB7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7F592-5574-4858-BE11-699496C4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147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09A4E-A98B-4358-B888-2FD17668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28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4591C-4761-4337-BE6C-CED5AF87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4668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game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4C23E-F392-41C1-8B6B-E4551EF6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478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music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140F5-9DC0-402E-9F9B-724219CA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synth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24403-84B6-4B97-82C6-70A1CD20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43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F1AD9-A63E-4403-9838-2FBEEA68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574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7958A-0097-423B-8995-FD24A38B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76368-BD6E-473C-8BBD-EB4F13E0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9E6B8-29D3-491F-B005-A4C768B5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008575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4CBC23-FA62-47EF-B50C-DEB72D3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EDBCA-8E4D-44D6-845A-A1837E8B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COMPOUNDING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40222-D9F7-4693-8E44-36C21216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Experiences compound into connections.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F202A-12D0-4471-B1CD-82EFFE6E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A game engine, a music tool, a synth, and a landing page can all become material for the same future idea.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DBC0B-2503-49FA-8A30-816E6B81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FCDD8-B169-4B6E-9AF0-2FB4CF8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734CD-4FCF-412F-A74B-9B7202CB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1430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34A61-75C7-41F6-AD01-7694C0A2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954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game 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7A7E3-45DA-4A46-8F2D-F66226A7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5825F-9C03-4903-AE6B-9725D779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Soundfall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0483A-6036-4A3B-9F7C-09B829EE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432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ED3C4-764E-4561-A3A1-F8DBFF92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Synth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6571E-E443-4B45-AC25-96867053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433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7A319-A3BE-4D89-9D5B-D45F292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landing page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C7D77-682B-47FB-A648-78466970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7645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30036-A677-4EB6-9F0E-ACF645BD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28850"/>
            <a:ext cx="104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future</a:t>
            </a:r>
          </a:p>
          <a:p xmlns:a="http://schemas.openxmlformats.org/drawingml/2006/main">
            <a:pPr algn="ctr">
              <a:def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583B8-6531-4F72-B626-100971E7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390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0C7AE-6CF2-4DDD-8343-9069271E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0324C-490B-400B-99AF-CBB3EE1A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90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1F054-2A94-4763-B763-686B6977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909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021894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03456-5641-4A23-9EB1-34CD499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6D6A1-F9B2-4E75-BCCE-B740100C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JUDGMENT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98D8C-DCEE-4D6A-9179-02F7D923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Expertise turns many good ideas into better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CD3F1-093A-4FB3-96EB-CAFA0CA7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Understanding the domain helps you choose the solutions that actually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7A4A6-1044-46B4-9AAB-055FF392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5D945-A762-47D0-BD7C-63810D22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E73E1-009D-4909-A952-FE7151C1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1239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BB01A-042A-4E63-9C5B-C1F7AD63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76350"/>
            <a:ext cx="3124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1,000s</a:t>
            </a:r>
          </a:p>
          <a:p xmlns:a="http://schemas.openxmlformats.org/drawingml/2006/main">
            <a:pPr algn="ctr">
              <a:def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of ideas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8A353-3C46-4A43-8CFC-9ACDA52F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5DEDE-09C1-4863-9E30-492B5D31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217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good</a:t>
            </a:r>
          </a:p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3DC1D-8943-4590-B6E6-534B60D7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14288">
            <a:solidFill>
              <a:srgbClr val="86C2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4DBFA-3A44-4E85-8F3D-82AA8863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right</a:t>
            </a:r>
          </a:p>
          <a:p xmlns:a="http://schemas.openxmlformats.org/drawingml/2006/main">
            <a:pPr algn="ctr">
              <a:defRPr sz="17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3A2F8-D722-4E84-9928-8F198D5B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5295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3617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36172"/>
                </a:solidFill>
                <a:latin typeface="Aptos Display"/>
                <a:ea typeface="Aptos Display"/>
                <a:cs typeface="Aptos Display"/>
              </a:rPr>
              <a:t>understanding narrows the field</a:t>
            </a:r>
          </a:p>
        </p:txBody>
      </p:sp>
    </p:spTree>
    <p:extLst>
      <p:ext uri="{BB962C8B-B14F-4D97-AF65-F5344CB8AC3E}">
        <p14:creationId xmlns:p14="http://schemas.microsoft.com/office/powerpoint/2010/main" val="94277660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095BE-2B08-43B0-BD45-0F72DACD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C2DEC-E155-49CB-A36F-3670FFB6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8BFE5-C600-4D3A-BE39-3AE08D21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Always be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D4210-87B0-4F20-A1D4-191E49A2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Use AI to learn language, build known things, and expand the map of what you understand.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9BEAC-7BEE-49B4-A9F2-07079B1F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08D63-473A-409B-AD3C-739886C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883A2-80BF-493C-815B-CF95C115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D4"/>
          </a:solidFill>
          <a:ln xmlns:a="http://schemas.openxmlformats.org/drawingml/2006/main" w="14288">
            <a:solidFill>
              <a:srgbClr val="54C7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CE38C-FEB5-4D60-891D-E90F17C8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811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ask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187BE-34C8-44E1-8634-4DB6CF47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4A43C-FDD9-402B-A9CA-F5A24FFA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811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build to</a:t>
            </a:r>
          </a:p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A8C5B-B814-4476-9B73-C08288C6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428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14288">
            <a:solidFill>
              <a:srgbClr val="86C2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4D581-FE3A-4722-A46D-1E20F775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5811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name the</a:t>
            </a:r>
          </a:p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370F0-5596-4B49-A068-05405D78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146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repeat until the domain gets less blurry</a:t>
            </a:r>
          </a:p>
        </p:txBody>
      </p:sp>
    </p:spTree>
    <p:extLst>
      <p:ext uri="{BB962C8B-B14F-4D97-AF65-F5344CB8AC3E}">
        <p14:creationId xmlns:p14="http://schemas.microsoft.com/office/powerpoint/2010/main" val="116338467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E5BAF4-6B14-4AA4-9C11-3F4A5E51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0EEC5-779A-4FBC-B0EE-B55AEF2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D8DCC-E98C-4084-A432-CC35D96B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Change your aperture.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BD89C-B4F9-4303-AF8A-936A1C2D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Zoom out: why is this needed, what happens before, and what should happen after?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AC4F0-E069-4E81-B5B2-0BE993B6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721B0-55AE-40F6-9D3B-ED0B2C55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8D513-3DAD-4C9E-87B3-40E46C7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525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7CB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62BA1-1E45-49BB-BFAE-3C9A9C3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764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5B8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DF1F1-661F-4090-AD01-9F66C133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0002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16D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477FB-D5ED-42F7-82C3-233AC438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335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why?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C4831-D054-4D8C-AE59-50B03333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8AB1D-4521-4081-AE99-0BBD9E11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81683522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B8B92E-E122-41AE-AA0A-6314CDAA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3BA83-6247-4645-8E0B-64F1C79C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D111D-A5B1-4C18-B721-1771AD27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Language is power.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B9619-372D-41DE-A672-B6CDEADF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AI does not care if you are an idiot. Use it to learn the language of the streams you are trying to swim 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20A7A-A6DE-4691-869F-3A27FF20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24ACC-C2A8-414F-BA42-3AA9208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35543-09CC-4692-9567-9CC7348C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203E9-0F18-4FDC-AF78-26FCD67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576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FD728-D19E-4FC4-AA54-CA0FE54D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6CE0E-966D-470B-88FB-12E130C1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concepts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76663-5BE1-465E-AA03-2FF7D158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A3875-83B0-4182-A99D-EDB3618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2CFD9-F965-46D8-8FEB-993D7E50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86588-0C7D-48C5-BF94-4C8BB8F6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taste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70C56-9E3D-4958-829D-610840A6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430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5A040-72C0-45A6-9388-9194F72F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6954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judgment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07122-AE56-42BF-812A-8534330E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148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AI can teach the vocabulary faster than pride will.</a:t>
            </a:r>
          </a:p>
        </p:txBody>
      </p:sp>
    </p:spTree>
    <p:extLst>
      <p:ext uri="{BB962C8B-B14F-4D97-AF65-F5344CB8AC3E}">
        <p14:creationId xmlns:p14="http://schemas.microsoft.com/office/powerpoint/2010/main" val="51644642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1D978-06FE-4F69-AE1F-A0A810B8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5A1D4-9F89-4583-B6D5-7A53D8E8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CRAFT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617A5-0C41-4A82-ACB9-EA8150FC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Craft brings the fantasy into contact with reality.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27B95-F33B-45ED-9A7E-E32AD9AB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In your head, the idea is perfect. The hard parts are hidden. Making exposes the truth.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37914-67AE-41CF-A7B0-FE8ACE55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7BB88-F1B5-4052-9A63-6861F5C4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916E5-7751-4F77-880E-1A325180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287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ECBF0-FDDF-4198-873F-A05AFA89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81150"/>
            <a:ext cx="1314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idea in</a:t>
            </a:r>
          </a:p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your 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78F6F-89BD-4A2D-A231-930B240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36245-11A3-48BC-AA89-059D2E0B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287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75DC0-1300-4716-A025-D56C6930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81150"/>
            <a:ext cx="1314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made</a:t>
            </a:r>
          </a:p>
          <a:p xmlns:a="http://schemas.openxmlformats.org/drawingml/2006/main">
            <a:pPr algn="ctr">
              <a:def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real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DC2D6-43EC-455C-AF91-7537CC39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004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edges become visible</a:t>
            </a:r>
          </a:p>
        </p:txBody>
      </p:sp>
    </p:spTree>
    <p:extLst>
      <p:ext uri="{BB962C8B-B14F-4D97-AF65-F5344CB8AC3E}">
        <p14:creationId xmlns:p14="http://schemas.microsoft.com/office/powerpoint/2010/main" val="165921935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D907FA-032F-4AD8-A573-5E103125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EC63C-B541-4C81-BC13-62E4CD5F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E42BA-FE7A-4B5F-9ABE-5FA6B098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Optimize for exploration.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FAFA8-CC39-4A88-AFAA-81167483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Stop asking the first idea to be good. Make starting less sacred.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658C3-7B44-4367-989E-53B88438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36F0A-7047-44DA-A71C-3AFA77D7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D84A3-5309-4E71-89A0-38BA318E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57300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21DB7-22D7-43BD-97A8-4A107334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0970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DD814-95A7-4510-B02F-04461B1D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257300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17780-FDCF-426A-B66B-BEC9D94F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0970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1053A-7283-445D-BD71-EC5F3A4D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0226E-6008-4C3D-9EDE-A8400656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crazy eights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C38C8-980F-462B-9610-795EFD42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333"/>
            </a:srgbClr>
          </a:solidFill>
          <a:ln xmlns:a="http://schemas.openxmlformats.org/drawingml/2006/main" w="14288">
            <a:solidFill>
              <a:srgbClr val="D6C8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099D5-74A7-4874-BDFC-40BF22C6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with others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C1C1D-010C-453F-B06B-BEB3B857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00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make starting less sacred</a:t>
            </a:r>
          </a:p>
        </p:txBody>
      </p:sp>
    </p:spTree>
    <p:extLst>
      <p:ext uri="{BB962C8B-B14F-4D97-AF65-F5344CB8AC3E}">
        <p14:creationId xmlns:p14="http://schemas.microsoft.com/office/powerpoint/2010/main" val="59036306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8CB63E-7942-48CB-8707-74CD9D3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3AF86-D413-419B-B395-8009804F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6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6D5B"/>
                </a:solidFill>
                <a:latin typeface="Aptos"/>
                <a:ea typeface="Aptos"/>
                <a:cs typeface="Aptos"/>
              </a:rPr>
              <a:t>PATTERN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40DEB-65F1-4151-95BA-EF072316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Shorten the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8CCCD-68D4-4A39-8E80-A23F4213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25069"/>
                </a:solidFill>
                <a:latin typeface="Aptos"/>
                <a:ea typeface="Aptos"/>
                <a:cs typeface="Aptos"/>
              </a:rPr>
              <a:t>Ask: what is the one thing I am trying to learn, and what is the smallest thing I can make to learn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94EFF-146D-40C5-9568-D3ADF9D6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487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5C966-3929-411B-9E0E-D53E8791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1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15F"/>
                </a:solidFill>
                <a:latin typeface="Aptos"/>
                <a:ea typeface="Aptos"/>
                <a:cs typeface="Aptos"/>
              </a:rPr>
              <a:t>Patterns for Creativity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BB2C9-32DA-485A-8F4A-BE280619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9065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D5B"/>
          </a:solidFill>
          <a:ln xmlns:a="http://schemas.openxmlformats.org/drawingml/2006/main" w="14288">
            <a:solidFill>
              <a:srgbClr val="F16D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F2FD4-754C-467A-A7A0-4DF05047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430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D3729-F439-49E6-85F7-D8C72720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181100"/>
            <a:ext cx="1428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5C"/>
          </a:solidFill>
          <a:ln xmlns:a="http://schemas.openxmlformats.org/drawingml/2006/main" w="14288">
            <a:solidFill>
              <a:srgbClr val="F5B8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ACD47-C4AC-49FD-AAF2-5068C8A2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33500"/>
            <a:ext cx="1123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smallest</a:t>
            </a:r>
          </a:p>
          <a:p xmlns:a="http://schemas.openxmlformats.org/drawingml/2006/main">
            <a:pPr algn="ctr">
              <a:def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58650-E84C-4E4A-BFA0-B0666E47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39065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26A"/>
          </a:solidFill>
          <a:ln xmlns:a="http://schemas.openxmlformats.org/drawingml/2006/main" w="14288">
            <a:solidFill>
              <a:srgbClr val="86C2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B981C-F37A-4160-90BA-7F3F857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54305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E926D-D960-4701-BF76-99C858A4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moodboard / prototype / tool / slice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C544C-7774-4CB2-AEB3-665F3B78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16D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16D5B"/>
                </a:solidFill>
                <a:latin typeface="Aptos Display"/>
                <a:ea typeface="Aptos Display"/>
                <a:cs typeface="Aptos Display"/>
              </a:rPr>
              <a:t>clarity &gt; perfection</a:t>
            </a:r>
          </a:p>
        </p:txBody>
      </p:sp>
    </p:spTree>
    <p:extLst>
      <p:ext uri="{BB962C8B-B14F-4D97-AF65-F5344CB8AC3E}">
        <p14:creationId xmlns:p14="http://schemas.microsoft.com/office/powerpoint/2010/main" val="30800093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41E6BF-E0AD-4A48-A33A-4B3139EA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98EA6-E6B2-4D3C-AF5B-434C0068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8000">
                <a:srgbClr val="0E1A2C"/>
              </a:gs>
              <a:gs pos="100000">
                <a:srgbClr val="102C3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16350-17D2-48D4-84B4-6D2B56D5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B8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5C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37C57-D10E-44DD-B482-08171E3B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4333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54C7D4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54C7D4"/>
                </a:solidFill>
                <a:latin typeface="Aptos Display"/>
                <a:ea typeface="Aptos Display"/>
                <a:cs typeface="Aptos Display"/>
              </a:rPr>
              <a:t>Let AI</a:t>
            </a:r>
          </a:p>
          <a:p xmlns:a="http://schemas.openxmlformats.org/drawingml/2006/main">
            <a:pPr algn="l">
              <a:defRPr sz="4650" b="1">
                <a:solidFill>
                  <a:srgbClr val="54C7D4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54C7D4"/>
                </a:solidFill>
                <a:latin typeface="Aptos Display"/>
                <a:ea typeface="Aptos Display"/>
                <a:cs typeface="Aptos Display"/>
              </a:rPr>
              <a:t>manufacture.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463F5-3138-481F-983A-E8FD7F63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7635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You decide</a:t>
            </a:r>
          </a:p>
          <a:p xmlns:a="http://schemas.openxmlformats.org/drawingml/2006/main">
            <a:pPr algn="l">
              <a:def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what is worth</a:t>
            </a:r>
          </a:p>
          <a:p xmlns:a="http://schemas.openxmlformats.org/drawingml/2006/main">
            <a:pPr algn="l">
              <a:def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8EA"/>
                </a:solidFill>
                <a:latin typeface="Aptos Display"/>
                <a:ea typeface="Aptos Display"/>
                <a:cs typeface="Aptos Display"/>
              </a:rPr>
              <a:t>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17CDC-5826-4584-989D-4BF1D89D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668F-AE35-4FAE-B8B9-41D9036B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DE6E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DE6EA"/>
                </a:solidFill>
                <a:latin typeface="Aptos"/>
                <a:ea typeface="Aptos"/>
                <a:cs typeface="Aptos"/>
              </a:rPr>
              <a:t>Creativity is not magic. It is a practice. It is not about being gifted. It is about being relentless.</a:t>
            </a:r>
          </a:p>
        </p:txBody>
      </p:sp>
    </p:spTree>
    <p:extLst>
      <p:ext uri="{BB962C8B-B14F-4D97-AF65-F5344CB8AC3E}">
        <p14:creationId xmlns:p14="http://schemas.microsoft.com/office/powerpoint/2010/main" val="772233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2026-06-13T00:08:42.8370000Z</dcterms:created>
  <dcterms:modified xsi:type="dcterms:W3CDTF">2026-06-13T00:08:42.8370000Z</dcterms:modified>
</coreProperties>
</file>